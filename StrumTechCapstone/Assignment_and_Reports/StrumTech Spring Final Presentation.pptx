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  <p:embeddedFont>
      <p:font typeface="Helvetica Neu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hX4KQbbqjz13vkEKmb711gXRV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E64C7-3568-44EB-B2D3-0F5E2311DD71}">
  <a:tblStyle styleId="{D47E64C7-3568-44EB-B2D3-0F5E2311DD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HelveticaNeue-regular.fntdata"/><Relationship Id="rId27" Type="http://schemas.openxmlformats.org/officeDocument/2006/relationships/font" Target="fonts/ProximaNov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Proxima Nova"/>
              <a:buChar char="●"/>
            </a:pPr>
            <a:r>
              <a:rPr lang="en-US" sz="18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I2S is a three-wire communication standard for transmitting digital sound signals</a:t>
            </a:r>
            <a:endParaRPr sz="18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Proxima Nova"/>
              <a:buChar char="●"/>
            </a:pPr>
            <a:r>
              <a:rPr lang="en-US" sz="18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Like I2C it involves one controller and multiple targets</a:t>
            </a:r>
            <a:endParaRPr sz="18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Proxima Nova"/>
              <a:buChar char="●"/>
            </a:pPr>
            <a:r>
              <a:rPr lang="en-US" sz="18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The three wires are:</a:t>
            </a:r>
            <a:endParaRPr sz="18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Proxima Nova"/>
              <a:buChar char="○"/>
            </a:pPr>
            <a:r>
              <a:rPr lang="en-US" sz="14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Serial Clock</a:t>
            </a:r>
            <a:endParaRPr sz="14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Proxima Nova"/>
              <a:buChar char="○"/>
            </a:pPr>
            <a:r>
              <a:rPr lang="en-US" sz="14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Serial Data</a:t>
            </a:r>
            <a:endParaRPr sz="14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Proxima Nova"/>
              <a:buChar char="○"/>
            </a:pPr>
            <a:r>
              <a:rPr lang="en-US" sz="14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Word Select (L/R Clock)</a:t>
            </a:r>
            <a:endParaRPr sz="14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b21438dcd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db21438dc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2db21438dcd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b100f9d1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b100f9d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2db100f9d1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b100f9d11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db100f9d1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2db100f9d11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b100f9d11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db100f9d1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2db100f9d11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db100f9d11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db100f9d1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2db100f9d11_0_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b21438dc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db21438d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2db21438dcd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b100f9d11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db100f9d1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2db100f9d11_0_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b21438dcd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db21438dc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db21438dcd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b100f9d11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db100f9d1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2db100f9d11_0_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c0ad64b02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dc0ad64b0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2dc0ad64b02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c0ad64b02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dc0ad64b0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2dc0ad64b02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b100f9d11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b100f9d1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2db100f9d11_0_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b100f9d11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db100f9d1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2db100f9d11_0_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db100f9d11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db100f9d1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2db100f9d11_0_5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b100f9d11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db100f9d1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2db100f9d11_0_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"/>
          <p:cNvSpPr txBox="1"/>
          <p:nvPr>
            <p:ph idx="1" type="body"/>
          </p:nvPr>
        </p:nvSpPr>
        <p:spPr>
          <a:xfrm>
            <a:off x="685800" y="74295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2" type="body"/>
          </p:nvPr>
        </p:nvSpPr>
        <p:spPr>
          <a:xfrm>
            <a:off x="1371600" y="2419350"/>
            <a:ext cx="6400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rgbClr val="00B0F0"/>
              </a:buClr>
              <a:buSzPts val="1800"/>
              <a:buNone/>
              <a:defRPr>
                <a:solidFill>
                  <a:srgbClr val="00B0F0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title"/>
          </p:nvPr>
        </p:nvSpPr>
        <p:spPr>
          <a:xfrm>
            <a:off x="457200" y="5905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body"/>
          </p:nvPr>
        </p:nvSpPr>
        <p:spPr>
          <a:xfrm>
            <a:off x="457200" y="1619250"/>
            <a:ext cx="8229600" cy="265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»"/>
              <a:defRPr>
                <a:solidFill>
                  <a:srgbClr val="006096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rgbClr val="00609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1792288" y="4025503"/>
            <a:ext cx="5486400" cy="375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006096"/>
              </a:buClr>
              <a:buSzPts val="1400"/>
              <a:buNone/>
              <a:defRPr sz="1400">
                <a:solidFill>
                  <a:srgbClr val="006096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7"/>
          <p:cNvSpPr txBox="1"/>
          <p:nvPr>
            <p:ph idx="12" type="sldNum"/>
          </p:nvPr>
        </p:nvSpPr>
        <p:spPr>
          <a:xfrm>
            <a:off x="33528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>
            <p:ph type="title"/>
          </p:nvPr>
        </p:nvSpPr>
        <p:spPr>
          <a:xfrm>
            <a:off x="722313" y="2647950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200" cap="none">
                <a:solidFill>
                  <a:srgbClr val="00B0F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" type="body"/>
          </p:nvPr>
        </p:nvSpPr>
        <p:spPr>
          <a:xfrm>
            <a:off x="722313" y="1522809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33528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457200" y="5143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457200" y="1409701"/>
            <a:ext cx="4038600" cy="2686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6096"/>
              </a:buClr>
              <a:buSzPts val="2800"/>
              <a:buChar char="•"/>
              <a:defRPr sz="2800">
                <a:solidFill>
                  <a:srgbClr val="006096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4648200" y="1409701"/>
            <a:ext cx="4038600" cy="2686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6096"/>
              </a:buClr>
              <a:buSzPts val="2800"/>
              <a:buChar char="•"/>
              <a:defRPr sz="2800">
                <a:solidFill>
                  <a:srgbClr val="006096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457200" y="502445"/>
            <a:ext cx="4040188" cy="7739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006096"/>
              </a:buClr>
              <a:buSzPts val="2400"/>
              <a:buNone/>
              <a:defRPr b="1" sz="2400">
                <a:solidFill>
                  <a:srgbClr val="006096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0"/>
          <p:cNvSpPr txBox="1"/>
          <p:nvPr>
            <p:ph idx="2" type="body"/>
          </p:nvPr>
        </p:nvSpPr>
        <p:spPr>
          <a:xfrm>
            <a:off x="457200" y="1276350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06096"/>
              </a:buClr>
              <a:buSzPts val="2400"/>
              <a:buChar char="•"/>
              <a:defRPr sz="2400">
                <a:solidFill>
                  <a:srgbClr val="006096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06096"/>
              </a:buClr>
              <a:buSzPts val="2000"/>
              <a:buChar char="–"/>
              <a:defRPr sz="2000">
                <a:solidFill>
                  <a:srgbClr val="006096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 sz="1800">
                <a:solidFill>
                  <a:srgbClr val="006096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06096"/>
              </a:buClr>
              <a:buSzPts val="1600"/>
              <a:buChar char="–"/>
              <a:defRPr sz="1600">
                <a:solidFill>
                  <a:srgbClr val="006096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006096"/>
              </a:buClr>
              <a:buSzPts val="1600"/>
              <a:buChar char="»"/>
              <a:defRPr sz="1600">
                <a:solidFill>
                  <a:srgbClr val="006096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6" name="Google Shape;36;p10"/>
          <p:cNvSpPr txBox="1"/>
          <p:nvPr>
            <p:ph idx="3" type="body"/>
          </p:nvPr>
        </p:nvSpPr>
        <p:spPr>
          <a:xfrm>
            <a:off x="4645026" y="502445"/>
            <a:ext cx="4041775" cy="7739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006096"/>
              </a:buClr>
              <a:buSzPts val="2400"/>
              <a:buNone/>
              <a:defRPr b="1" sz="2400">
                <a:solidFill>
                  <a:srgbClr val="006096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0"/>
          <p:cNvSpPr txBox="1"/>
          <p:nvPr>
            <p:ph idx="4" type="body"/>
          </p:nvPr>
        </p:nvSpPr>
        <p:spPr>
          <a:xfrm>
            <a:off x="4645026" y="1276350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06096"/>
              </a:buClr>
              <a:buSzPts val="2400"/>
              <a:buChar char="•"/>
              <a:defRPr sz="2400">
                <a:solidFill>
                  <a:srgbClr val="006096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06096"/>
              </a:buClr>
              <a:buSzPts val="2000"/>
              <a:buChar char="–"/>
              <a:defRPr sz="2000">
                <a:solidFill>
                  <a:srgbClr val="006096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 sz="1800">
                <a:solidFill>
                  <a:srgbClr val="006096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06096"/>
              </a:buClr>
              <a:buSzPts val="1600"/>
              <a:buChar char="–"/>
              <a:defRPr sz="1600">
                <a:solidFill>
                  <a:srgbClr val="006096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006096"/>
              </a:buClr>
              <a:buSzPts val="1600"/>
              <a:buChar char="»"/>
              <a:defRPr sz="1600">
                <a:solidFill>
                  <a:srgbClr val="006096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/>
          <p:nvPr>
            <p:ph type="title"/>
          </p:nvPr>
        </p:nvSpPr>
        <p:spPr>
          <a:xfrm>
            <a:off x="457200" y="5905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title"/>
          </p:nvPr>
        </p:nvSpPr>
        <p:spPr>
          <a:xfrm>
            <a:off x="457201" y="514350"/>
            <a:ext cx="3008313" cy="947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rgbClr val="00609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3575050" y="514351"/>
            <a:ext cx="511175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006096"/>
              </a:buClr>
              <a:buSzPts val="3200"/>
              <a:buChar char="•"/>
              <a:defRPr sz="3200">
                <a:solidFill>
                  <a:srgbClr val="006096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7" name="Google Shape;47;p13"/>
          <p:cNvSpPr txBox="1"/>
          <p:nvPr>
            <p:ph idx="2" type="body"/>
          </p:nvPr>
        </p:nvSpPr>
        <p:spPr>
          <a:xfrm>
            <a:off x="457201" y="1657351"/>
            <a:ext cx="3008313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006096"/>
              </a:buClr>
              <a:buSzPts val="1400"/>
              <a:buNone/>
              <a:defRPr sz="1400">
                <a:solidFill>
                  <a:srgbClr val="006096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33528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5905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" type="body"/>
          </p:nvPr>
        </p:nvSpPr>
        <p:spPr>
          <a:xfrm rot="5400000">
            <a:off x="3246438" y="-1169987"/>
            <a:ext cx="26511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»"/>
              <a:defRPr>
                <a:solidFill>
                  <a:srgbClr val="006096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3505200" y="4781550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6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 rot="5400000">
            <a:off x="5829299" y="1238250"/>
            <a:ext cx="3657601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 rot="5400000">
            <a:off x="1638300" y="-742951"/>
            <a:ext cx="3657601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»"/>
              <a:defRPr>
                <a:solidFill>
                  <a:srgbClr val="006096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34671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457200" y="5905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457200" y="1619250"/>
            <a:ext cx="8229600" cy="265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Relationship Id="rId4" Type="http://schemas.openxmlformats.org/officeDocument/2006/relationships/image" Target="../media/image23.jpg"/><Relationship Id="rId5" Type="http://schemas.openxmlformats.org/officeDocument/2006/relationships/image" Target="../media/image26.jpg"/><Relationship Id="rId6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Relationship Id="rId4" Type="http://schemas.openxmlformats.org/officeDocument/2006/relationships/image" Target="../media/image24.jp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idx="1" type="body"/>
          </p:nvPr>
        </p:nvSpPr>
        <p:spPr>
          <a:xfrm>
            <a:off x="685800" y="742950"/>
            <a:ext cx="4953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/>
              <a:t>StrumTech; Innovative Guitar System for Beginners</a:t>
            </a:r>
            <a:endParaRPr/>
          </a:p>
        </p:txBody>
      </p:sp>
      <p:sp>
        <p:nvSpPr>
          <p:cNvPr id="62" name="Google Shape;62;p1"/>
          <p:cNvSpPr txBox="1"/>
          <p:nvPr>
            <p:ph idx="2" type="body"/>
          </p:nvPr>
        </p:nvSpPr>
        <p:spPr>
          <a:xfrm>
            <a:off x="685800" y="2052775"/>
            <a:ext cx="48960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None/>
            </a:pPr>
            <a:r>
              <a:rPr lang="en-US">
                <a:solidFill>
                  <a:srgbClr val="FFFFFF"/>
                </a:solidFill>
              </a:rPr>
              <a:t>David Ellis; </a:t>
            </a:r>
            <a:r>
              <a:rPr lang="en-US">
                <a:solidFill>
                  <a:srgbClr val="F1C232"/>
                </a:solidFill>
              </a:rPr>
              <a:t>Digital Effects, Circuitry and Guitar Body</a:t>
            </a:r>
            <a:endParaRPr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None/>
            </a:pPr>
            <a:r>
              <a:rPr lang="en-US">
                <a:solidFill>
                  <a:srgbClr val="FFFFFF"/>
                </a:solidFill>
              </a:rPr>
              <a:t>Austin Petersen; </a:t>
            </a:r>
            <a:r>
              <a:rPr lang="en-US">
                <a:solidFill>
                  <a:srgbClr val="F1C232"/>
                </a:solidFill>
              </a:rPr>
              <a:t>PCB, 3D Print Designs and Guitar Body/Neck</a:t>
            </a:r>
            <a:endParaRPr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None/>
            </a:pPr>
            <a:r>
              <a:rPr lang="en-US">
                <a:solidFill>
                  <a:srgbClr val="FFFFFF"/>
                </a:solidFill>
              </a:rPr>
              <a:t>Gerald Stanford; </a:t>
            </a:r>
            <a:r>
              <a:rPr lang="en-US">
                <a:solidFill>
                  <a:srgbClr val="F1C232"/>
                </a:solidFill>
              </a:rPr>
              <a:t>App, Coding and Testing</a:t>
            </a:r>
            <a:endParaRPr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None/>
            </a:pPr>
            <a:r>
              <a:rPr lang="en-US">
                <a:solidFill>
                  <a:srgbClr val="FFFFFF"/>
                </a:solidFill>
              </a:rPr>
              <a:t>Michael Ward; </a:t>
            </a:r>
            <a:r>
              <a:rPr lang="en-US">
                <a:solidFill>
                  <a:srgbClr val="F1C232"/>
                </a:solidFill>
              </a:rPr>
              <a:t>Coding, Circuitry and Guitar Body/Neck</a:t>
            </a:r>
            <a:endParaRPr>
              <a:solidFill>
                <a:srgbClr val="F1C232"/>
              </a:solidFill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11211" l="41496" r="19938" t="14445"/>
          <a:stretch/>
        </p:blipFill>
        <p:spPr>
          <a:xfrm>
            <a:off x="6285225" y="304040"/>
            <a:ext cx="1764474" cy="453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457200" y="5905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Engineering Standards and Codes</a:t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457200" y="1619250"/>
            <a:ext cx="8229600" cy="26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/>
              <a:t>ISO/IEC 14882; C++ Coding Standard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/>
              <a:t>ISO 16:1975; A440 Hz Standard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/>
              <a:t>I2S Communication Specification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Bluetooth BLE Specification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JSON ECMA-404 Specification</a:t>
            </a:r>
            <a:endParaRPr/>
          </a:p>
        </p:txBody>
      </p:sp>
      <p:sp>
        <p:nvSpPr>
          <p:cNvPr id="70" name="Google Shape;70;p2"/>
          <p:cNvSpPr txBox="1"/>
          <p:nvPr>
            <p:ph idx="12" type="sldNum"/>
          </p:nvPr>
        </p:nvSpPr>
        <p:spPr>
          <a:xfrm>
            <a:off x="3505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7830205" y="2335954"/>
            <a:ext cx="899100" cy="471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MCU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830205" y="1493625"/>
            <a:ext cx="899100" cy="471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ADC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830205" y="3178283"/>
            <a:ext cx="899100" cy="471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DAC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74" name="Google Shape;74;p2"/>
          <p:cNvCxnSpPr>
            <a:stCxn id="72" idx="2"/>
            <a:endCxn id="71" idx="0"/>
          </p:cNvCxnSpPr>
          <p:nvPr/>
        </p:nvCxnSpPr>
        <p:spPr>
          <a:xfrm>
            <a:off x="8279755" y="1965225"/>
            <a:ext cx="0" cy="370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2"/>
          <p:cNvCxnSpPr>
            <a:stCxn id="71" idx="2"/>
            <a:endCxn id="73" idx="0"/>
          </p:cNvCxnSpPr>
          <p:nvPr/>
        </p:nvCxnSpPr>
        <p:spPr>
          <a:xfrm>
            <a:off x="8279755" y="2807554"/>
            <a:ext cx="0" cy="370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2"/>
          <p:cNvCxnSpPr>
            <a:stCxn id="73" idx="2"/>
          </p:cNvCxnSpPr>
          <p:nvPr/>
        </p:nvCxnSpPr>
        <p:spPr>
          <a:xfrm>
            <a:off x="8279755" y="3649883"/>
            <a:ext cx="11100" cy="33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2"/>
          <p:cNvCxnSpPr/>
          <p:nvPr/>
        </p:nvCxnSpPr>
        <p:spPr>
          <a:xfrm>
            <a:off x="8274210" y="1161699"/>
            <a:ext cx="11100" cy="33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2"/>
          <p:cNvSpPr txBox="1"/>
          <p:nvPr/>
        </p:nvSpPr>
        <p:spPr>
          <a:xfrm>
            <a:off x="7602649" y="590550"/>
            <a:ext cx="1354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Analog Input Signal</a:t>
            </a:r>
            <a:endParaRPr sz="15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7595500" y="3984225"/>
            <a:ext cx="1457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Analog Output Signal</a:t>
            </a:r>
            <a:endParaRPr sz="15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8279696" y="1965125"/>
            <a:ext cx="642300" cy="1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I2S</a:t>
            </a:r>
            <a:endParaRPr sz="18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8279696" y="2807450"/>
            <a:ext cx="642300" cy="1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I2S</a:t>
            </a:r>
            <a:endParaRPr sz="18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15803"/>
          <a:stretch/>
        </p:blipFill>
        <p:spPr>
          <a:xfrm>
            <a:off x="4735275" y="1333650"/>
            <a:ext cx="2738892" cy="307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b21438dcd_0_21"/>
          <p:cNvSpPr txBox="1"/>
          <p:nvPr>
            <p:ph type="title"/>
          </p:nvPr>
        </p:nvSpPr>
        <p:spPr>
          <a:xfrm>
            <a:off x="457200" y="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Constraints</a:t>
            </a:r>
            <a:endParaRPr/>
          </a:p>
        </p:txBody>
      </p:sp>
      <p:sp>
        <p:nvSpPr>
          <p:cNvPr id="89" name="Google Shape;89;g2db21438dcd_0_21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g2db21438dcd_0_21"/>
          <p:cNvSpPr txBox="1"/>
          <p:nvPr/>
        </p:nvSpPr>
        <p:spPr>
          <a:xfrm>
            <a:off x="300175" y="523975"/>
            <a:ext cx="3093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096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Size of Guitar</a:t>
            </a:r>
            <a:endParaRPr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096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Cost $</a:t>
            </a:r>
            <a:endParaRPr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096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Processing Power</a:t>
            </a:r>
            <a:endParaRPr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096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Light array</a:t>
            </a:r>
            <a:endParaRPr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096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DSP</a:t>
            </a:r>
            <a:endParaRPr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096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Tuner</a:t>
            </a:r>
            <a:endParaRPr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096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Bluetooth</a:t>
            </a:r>
            <a:endParaRPr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096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Speed/Latency</a:t>
            </a:r>
            <a:endParaRPr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096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096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Apple dev Ecosystem</a:t>
            </a:r>
            <a:endParaRPr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096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096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Testability</a:t>
            </a:r>
            <a:endParaRPr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g2db21438dcd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950" y="49575"/>
            <a:ext cx="2318325" cy="231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2db21438dcd_0_21"/>
          <p:cNvPicPr preferRelativeResize="0"/>
          <p:nvPr/>
        </p:nvPicPr>
        <p:blipFill rotWithShape="1">
          <a:blip r:embed="rId4">
            <a:alphaModFix/>
          </a:blip>
          <a:srcRect b="4342" l="0" r="0" t="0"/>
          <a:stretch/>
        </p:blipFill>
        <p:spPr>
          <a:xfrm>
            <a:off x="3360250" y="1412588"/>
            <a:ext cx="2423511" cy="231832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2db21438dcd_0_21"/>
          <p:cNvSpPr txBox="1"/>
          <p:nvPr/>
        </p:nvSpPr>
        <p:spPr>
          <a:xfrm>
            <a:off x="6803663" y="3015425"/>
            <a:ext cx="112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6096"/>
                </a:solidFill>
                <a:latin typeface="Calibri"/>
                <a:ea typeface="Calibri"/>
                <a:cs typeface="Calibri"/>
                <a:sym typeface="Calibri"/>
              </a:rPr>
              <a:t>$250 Budget</a:t>
            </a:r>
            <a:endParaRPr b="1" sz="1800">
              <a:solidFill>
                <a:srgbClr val="0060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db100f9d11_0_0"/>
          <p:cNvSpPr txBox="1"/>
          <p:nvPr>
            <p:ph type="title"/>
          </p:nvPr>
        </p:nvSpPr>
        <p:spPr>
          <a:xfrm>
            <a:off x="457200" y="425475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 of Project from Fall</a:t>
            </a:r>
            <a:endParaRPr/>
          </a:p>
        </p:txBody>
      </p:sp>
      <p:sp>
        <p:nvSpPr>
          <p:cNvPr id="100" name="Google Shape;100;g2db100f9d11_0_0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01" name="Google Shape;101;g2db100f9d11_0_0"/>
          <p:cNvGraphicFramePr/>
          <p:nvPr/>
        </p:nvGraphicFramePr>
        <p:xfrm>
          <a:off x="952500" y="116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{D47E64C7-3568-44EB-B2D3-0F5E2311DD71}</a:tableStyleId>
              </a:tblPr>
              <a:tblGrid>
                <a:gridCol w="3619500"/>
                <a:gridCol w="3619500"/>
              </a:tblGrid>
              <a:tr h="46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sng">
                          <a:solidFill>
                            <a:srgbClr val="006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Completed</a:t>
                      </a:r>
                      <a:endParaRPr b="1" sz="1800" u="sng">
                        <a:solidFill>
                          <a:srgbClr val="00609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sng">
                          <a:solidFill>
                            <a:srgbClr val="006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be Completed</a:t>
                      </a:r>
                      <a:endParaRPr b="1" sz="1800" u="sng">
                        <a:solidFill>
                          <a:srgbClr val="00609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6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6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for Tuner</a:t>
                      </a:r>
                      <a:endParaRPr sz="1800">
                        <a:solidFill>
                          <a:srgbClr val="00609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6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for Digital Effects</a:t>
                      </a:r>
                      <a:endParaRPr sz="1800">
                        <a:solidFill>
                          <a:srgbClr val="00609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6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6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for LED Fretboard</a:t>
                      </a:r>
                      <a:endParaRPr sz="1800">
                        <a:solidFill>
                          <a:srgbClr val="00609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6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Guitar Body</a:t>
                      </a:r>
                      <a:endParaRPr sz="1800">
                        <a:solidFill>
                          <a:srgbClr val="00609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6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6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Amplifier Circuit</a:t>
                      </a:r>
                      <a:endParaRPr sz="1800">
                        <a:solidFill>
                          <a:srgbClr val="00609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6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Finalized LED Fretboard</a:t>
                      </a:r>
                      <a:endParaRPr sz="1800">
                        <a:solidFill>
                          <a:srgbClr val="00609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6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6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LED Fretboard</a:t>
                      </a:r>
                      <a:endParaRPr sz="1800">
                        <a:solidFill>
                          <a:srgbClr val="00609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6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Bluetooth Connectivity</a:t>
                      </a:r>
                      <a:endParaRPr sz="1800">
                        <a:solidFill>
                          <a:srgbClr val="00609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6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6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 of App</a:t>
                      </a:r>
                      <a:endParaRPr sz="1800">
                        <a:solidFill>
                          <a:srgbClr val="00609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6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Finalized App</a:t>
                      </a:r>
                      <a:endParaRPr sz="1800">
                        <a:solidFill>
                          <a:srgbClr val="00609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b100f9d11_0_7"/>
          <p:cNvSpPr txBox="1"/>
          <p:nvPr>
            <p:ph type="title"/>
          </p:nvPr>
        </p:nvSpPr>
        <p:spPr>
          <a:xfrm>
            <a:off x="457200" y="472825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Initial Game-plan for the Spring</a:t>
            </a:r>
            <a:endParaRPr/>
          </a:p>
        </p:txBody>
      </p:sp>
      <p:sp>
        <p:nvSpPr>
          <p:cNvPr id="108" name="Google Shape;108;g2db100f9d11_0_7"/>
          <p:cNvSpPr txBox="1"/>
          <p:nvPr>
            <p:ph idx="1" type="body"/>
          </p:nvPr>
        </p:nvSpPr>
        <p:spPr>
          <a:xfrm>
            <a:off x="457200" y="1215925"/>
            <a:ext cx="8229600" cy="330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For the spring semester, our goals were to complete the app and insert the physical components into the guitar. Our specific goals were as follows: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/>
              <a:t>Complete Phone App, including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/>
              <a:t>Tuner Interface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/>
              <a:t>Digital Pedal Interface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/>
              <a:t>Chord Interface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Change PCB design to repair connection issues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/>
              <a:t>Build Guitar and Insert Components into Guitar and Fretboard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/>
              <a:t>Complete Digital Effects component and receive proper sound from it</a:t>
            </a:r>
            <a:endParaRPr/>
          </a:p>
        </p:txBody>
      </p:sp>
      <p:sp>
        <p:nvSpPr>
          <p:cNvPr id="109" name="Google Shape;109;g2db100f9d11_0_7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b100f9d11_0_14"/>
          <p:cNvSpPr txBox="1"/>
          <p:nvPr>
            <p:ph type="title"/>
          </p:nvPr>
        </p:nvSpPr>
        <p:spPr>
          <a:xfrm>
            <a:off x="457200" y="59055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of Digital Effects</a:t>
            </a:r>
            <a:endParaRPr/>
          </a:p>
        </p:txBody>
      </p:sp>
      <p:sp>
        <p:nvSpPr>
          <p:cNvPr id="116" name="Google Shape;116;g2db100f9d11_0_14"/>
          <p:cNvSpPr txBox="1"/>
          <p:nvPr>
            <p:ph idx="1" type="body"/>
          </p:nvPr>
        </p:nvSpPr>
        <p:spPr>
          <a:xfrm>
            <a:off x="305900" y="1427625"/>
            <a:ext cx="3147300" cy="265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Teensy audio adapter board and audio library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Built in ADC and DAC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Attempted to implement delay, chorus, and distortion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Resulting effects were delay and “techno-distortion”</a:t>
            </a:r>
            <a:endParaRPr/>
          </a:p>
        </p:txBody>
      </p:sp>
      <p:sp>
        <p:nvSpPr>
          <p:cNvPr id="117" name="Google Shape;117;g2db100f9d11_0_14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g2db100f9d11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3227" y="1333650"/>
            <a:ext cx="5598974" cy="304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b100f9d11_0_77"/>
          <p:cNvSpPr txBox="1"/>
          <p:nvPr>
            <p:ph type="title"/>
          </p:nvPr>
        </p:nvSpPr>
        <p:spPr>
          <a:xfrm>
            <a:off x="457200" y="51435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PCB and Construction of the LED Fretboard </a:t>
            </a:r>
            <a:endParaRPr/>
          </a:p>
        </p:txBody>
      </p:sp>
      <p:sp>
        <p:nvSpPr>
          <p:cNvPr id="125" name="Google Shape;125;g2db100f9d11_0_77"/>
          <p:cNvSpPr txBox="1"/>
          <p:nvPr>
            <p:ph idx="1" type="body"/>
          </p:nvPr>
        </p:nvSpPr>
        <p:spPr>
          <a:xfrm>
            <a:off x="457200" y="1409700"/>
            <a:ext cx="4038600" cy="309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Due to connection </a:t>
            </a:r>
            <a:r>
              <a:rPr lang="en-US" sz="1800"/>
              <a:t>errors in our Fall PCB design, we changed our PCB to have through-hole soldering.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We cut channels into the fretboard to allow the insertion of the PCB into the neck.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We 3D printed translucent covers for the LEDs.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We then epoxied the PCBs onto the fretboard and hot glued the translucent covers onto them.</a:t>
            </a:r>
            <a:endParaRPr sz="1800"/>
          </a:p>
        </p:txBody>
      </p:sp>
      <p:sp>
        <p:nvSpPr>
          <p:cNvPr id="126" name="Google Shape;126;g2db100f9d11_0_77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7" name="Google Shape;127;g2db100f9d11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5275" y="1937238"/>
            <a:ext cx="4151675" cy="12690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db100f9d11_0_77"/>
          <p:cNvSpPr txBox="1"/>
          <p:nvPr>
            <p:ph idx="1" type="body"/>
          </p:nvPr>
        </p:nvSpPr>
        <p:spPr>
          <a:xfrm>
            <a:off x="4984563" y="3206275"/>
            <a:ext cx="3593100" cy="43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/>
              <a:t>New PCB Design with Through-Hole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b21438dcd_0_0"/>
          <p:cNvSpPr txBox="1"/>
          <p:nvPr>
            <p:ph type="title"/>
          </p:nvPr>
        </p:nvSpPr>
        <p:spPr>
          <a:xfrm>
            <a:off x="457200" y="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New PCB and Construction of the LED Fretboard </a:t>
            </a:r>
            <a:endParaRPr/>
          </a:p>
        </p:txBody>
      </p:sp>
      <p:sp>
        <p:nvSpPr>
          <p:cNvPr id="135" name="Google Shape;135;g2db21438dcd_0_0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6" name="Google Shape;136;g2db21438dc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8038"/>
            <a:ext cx="2203921" cy="2938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2db21438dc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7038" y="798046"/>
            <a:ext cx="2203921" cy="2938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2db21438dc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0075" y="798046"/>
            <a:ext cx="2203921" cy="2938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2db21438dcd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3550" y="798036"/>
            <a:ext cx="2203921" cy="293859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2db21438dcd_0_0"/>
          <p:cNvSpPr txBox="1"/>
          <p:nvPr>
            <p:ph idx="4294967295" type="body"/>
          </p:nvPr>
        </p:nvSpPr>
        <p:spPr>
          <a:xfrm>
            <a:off x="2327050" y="3736600"/>
            <a:ext cx="2203800" cy="64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6096"/>
                </a:solidFill>
              </a:rPr>
              <a:t>Preliminary LED Strip Placement and Soldering</a:t>
            </a:r>
            <a:endParaRPr sz="1400">
              <a:solidFill>
                <a:srgbClr val="006096"/>
              </a:solidFill>
            </a:endParaRPr>
          </a:p>
        </p:txBody>
      </p:sp>
      <p:sp>
        <p:nvSpPr>
          <p:cNvPr id="141" name="Google Shape;141;g2db21438dcd_0_0"/>
          <p:cNvSpPr txBox="1"/>
          <p:nvPr>
            <p:ph idx="4294967295" type="body"/>
          </p:nvPr>
        </p:nvSpPr>
        <p:spPr>
          <a:xfrm>
            <a:off x="63" y="3736600"/>
            <a:ext cx="2203800" cy="64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6096"/>
                </a:solidFill>
              </a:rPr>
              <a:t>Cutting Channels in the Fretboard</a:t>
            </a:r>
            <a:endParaRPr sz="1400">
              <a:solidFill>
                <a:srgbClr val="006096"/>
              </a:solidFill>
            </a:endParaRPr>
          </a:p>
        </p:txBody>
      </p:sp>
      <p:sp>
        <p:nvSpPr>
          <p:cNvPr id="142" name="Google Shape;142;g2db21438dcd_0_0"/>
          <p:cNvSpPr txBox="1"/>
          <p:nvPr>
            <p:ph idx="4294967295" type="body"/>
          </p:nvPr>
        </p:nvSpPr>
        <p:spPr>
          <a:xfrm>
            <a:off x="4633563" y="3736600"/>
            <a:ext cx="2203800" cy="64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6096"/>
                </a:solidFill>
              </a:rPr>
              <a:t>Translucent Cover for the LED Strips</a:t>
            </a:r>
            <a:endParaRPr sz="1400">
              <a:solidFill>
                <a:srgbClr val="006096"/>
              </a:solidFill>
            </a:endParaRPr>
          </a:p>
        </p:txBody>
      </p:sp>
      <p:sp>
        <p:nvSpPr>
          <p:cNvPr id="143" name="Google Shape;143;g2db21438dcd_0_0"/>
          <p:cNvSpPr txBox="1"/>
          <p:nvPr>
            <p:ph idx="4294967295" type="body"/>
          </p:nvPr>
        </p:nvSpPr>
        <p:spPr>
          <a:xfrm>
            <a:off x="6940063" y="3736600"/>
            <a:ext cx="2203800" cy="64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6096"/>
                </a:solidFill>
              </a:rPr>
              <a:t>Finalized LED Fretboard</a:t>
            </a:r>
            <a:endParaRPr sz="1400">
              <a:solidFill>
                <a:srgbClr val="00609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b100f9d11_0_69"/>
          <p:cNvSpPr txBox="1"/>
          <p:nvPr>
            <p:ph type="title"/>
          </p:nvPr>
        </p:nvSpPr>
        <p:spPr>
          <a:xfrm>
            <a:off x="457200" y="30675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of Guitar Body</a:t>
            </a:r>
            <a:endParaRPr/>
          </a:p>
        </p:txBody>
      </p:sp>
      <p:sp>
        <p:nvSpPr>
          <p:cNvPr id="150" name="Google Shape;150;g2db100f9d11_0_69"/>
          <p:cNvSpPr txBox="1"/>
          <p:nvPr>
            <p:ph idx="1" type="body"/>
          </p:nvPr>
        </p:nvSpPr>
        <p:spPr>
          <a:xfrm>
            <a:off x="457200" y="1409700"/>
            <a:ext cx="4038600" cy="310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After receiving our guitar kit, we determined that there wouldn’t be enough space within the wood to insert all of our electronics.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We opted for designing a 3D print cavity and cutting off part of the guitar to insert this cavity.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We also decided to have any acrylic cover of the cavity to allow the viewing of all of the internal components.</a:t>
            </a:r>
            <a:endParaRPr sz="1800"/>
          </a:p>
        </p:txBody>
      </p:sp>
      <p:sp>
        <p:nvSpPr>
          <p:cNvPr id="151" name="Google Shape;151;g2db100f9d11_0_69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2" name="Google Shape;152;g2db100f9d11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3125" y="688312"/>
            <a:ext cx="3873674" cy="31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db100f9d11_0_69"/>
          <p:cNvSpPr txBox="1"/>
          <p:nvPr>
            <p:ph idx="1" type="body"/>
          </p:nvPr>
        </p:nvSpPr>
        <p:spPr>
          <a:xfrm>
            <a:off x="4813125" y="3871300"/>
            <a:ext cx="3873600" cy="64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400"/>
              <a:t>Initial Guitar Body from Guitar Kit</a:t>
            </a:r>
            <a:endParaRPr sz="1400">
              <a:solidFill>
                <a:srgbClr val="00609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b21438dcd_0_7"/>
          <p:cNvSpPr txBox="1"/>
          <p:nvPr>
            <p:ph type="title"/>
          </p:nvPr>
        </p:nvSpPr>
        <p:spPr>
          <a:xfrm>
            <a:off x="457200" y="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Design of Guitar Body</a:t>
            </a:r>
            <a:endParaRPr/>
          </a:p>
        </p:txBody>
      </p:sp>
      <p:sp>
        <p:nvSpPr>
          <p:cNvPr id="160" name="Google Shape;160;g2db21438dcd_0_7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1" name="Google Shape;161;g2db21438dcd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7051" y="823061"/>
            <a:ext cx="2133598" cy="2844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2db21438dcd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6827522" y="821389"/>
            <a:ext cx="2136078" cy="28481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2db21438dcd_0_7"/>
          <p:cNvSpPr txBox="1"/>
          <p:nvPr>
            <p:ph idx="4294967295" type="body"/>
          </p:nvPr>
        </p:nvSpPr>
        <p:spPr>
          <a:xfrm>
            <a:off x="6827525" y="3667850"/>
            <a:ext cx="2136000" cy="64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6096"/>
                </a:solidFill>
              </a:rPr>
              <a:t>Finalized Guitar Body with 3D Printed Cavity</a:t>
            </a:r>
            <a:endParaRPr sz="1400">
              <a:solidFill>
                <a:srgbClr val="006096"/>
              </a:solidFill>
            </a:endParaRPr>
          </a:p>
        </p:txBody>
      </p:sp>
      <p:sp>
        <p:nvSpPr>
          <p:cNvPr id="164" name="Google Shape;164;g2db21438dcd_0_7"/>
          <p:cNvSpPr txBox="1"/>
          <p:nvPr>
            <p:ph idx="4294967295" type="body"/>
          </p:nvPr>
        </p:nvSpPr>
        <p:spPr>
          <a:xfrm>
            <a:off x="4367049" y="3667850"/>
            <a:ext cx="2133600" cy="64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6096"/>
                </a:solidFill>
              </a:rPr>
              <a:t>Guitar Body with Cavity Space Cutoff</a:t>
            </a:r>
            <a:endParaRPr sz="1400">
              <a:solidFill>
                <a:srgbClr val="006096"/>
              </a:solidFill>
            </a:endParaRPr>
          </a:p>
        </p:txBody>
      </p:sp>
      <p:sp>
        <p:nvSpPr>
          <p:cNvPr id="165" name="Google Shape;165;g2db21438dcd_0_7"/>
          <p:cNvSpPr txBox="1"/>
          <p:nvPr>
            <p:ph idx="4294967295" type="body"/>
          </p:nvPr>
        </p:nvSpPr>
        <p:spPr>
          <a:xfrm>
            <a:off x="180724" y="3667850"/>
            <a:ext cx="2133600" cy="64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6096"/>
                </a:solidFill>
              </a:rPr>
              <a:t>CAD Design for the Guitar Cavity</a:t>
            </a:r>
            <a:endParaRPr sz="1400">
              <a:solidFill>
                <a:srgbClr val="006096"/>
              </a:solidFill>
            </a:endParaRPr>
          </a:p>
        </p:txBody>
      </p:sp>
      <p:sp>
        <p:nvSpPr>
          <p:cNvPr id="166" name="Google Shape;166;g2db21438dcd_0_7"/>
          <p:cNvSpPr txBox="1"/>
          <p:nvPr>
            <p:ph idx="4294967295" type="body"/>
          </p:nvPr>
        </p:nvSpPr>
        <p:spPr>
          <a:xfrm>
            <a:off x="2188236" y="3667850"/>
            <a:ext cx="2133600" cy="64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6096"/>
                </a:solidFill>
              </a:rPr>
              <a:t>CAD Design for Acrylic Cover</a:t>
            </a:r>
            <a:endParaRPr sz="1400">
              <a:solidFill>
                <a:srgbClr val="006096"/>
              </a:solidFill>
            </a:endParaRPr>
          </a:p>
        </p:txBody>
      </p:sp>
      <p:pic>
        <p:nvPicPr>
          <p:cNvPr id="167" name="Google Shape;167;g2db21438dcd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175" y="788975"/>
            <a:ext cx="1856679" cy="1447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2db21438dcd_0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3550" y="2236475"/>
            <a:ext cx="1927957" cy="14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2db21438dcd_0_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79653" y="2289738"/>
            <a:ext cx="950757" cy="134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2db21438dcd_0_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69276" y="936663"/>
            <a:ext cx="1971495" cy="115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b100f9d11_0_35"/>
          <p:cNvSpPr txBox="1"/>
          <p:nvPr>
            <p:ph type="title"/>
          </p:nvPr>
        </p:nvSpPr>
        <p:spPr>
          <a:xfrm>
            <a:off x="238950" y="590575"/>
            <a:ext cx="38313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 Coding and Design</a:t>
            </a:r>
            <a:endParaRPr/>
          </a:p>
        </p:txBody>
      </p:sp>
      <p:sp>
        <p:nvSpPr>
          <p:cNvPr id="177" name="Google Shape;177;g2db100f9d11_0_35"/>
          <p:cNvSpPr txBox="1"/>
          <p:nvPr>
            <p:ph idx="1" type="body"/>
          </p:nvPr>
        </p:nvSpPr>
        <p:spPr>
          <a:xfrm>
            <a:off x="457200" y="1724913"/>
            <a:ext cx="3394800" cy="265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State Machine of the MicroController.</a:t>
            </a:r>
            <a:endParaRPr/>
          </a:p>
        </p:txBody>
      </p:sp>
      <p:sp>
        <p:nvSpPr>
          <p:cNvPr id="178" name="Google Shape;178;g2db100f9d11_0_35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g2db100f9d11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975" y="273228"/>
            <a:ext cx="4850849" cy="404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c0ad64b02_0_1"/>
          <p:cNvSpPr txBox="1"/>
          <p:nvPr>
            <p:ph type="title"/>
          </p:nvPr>
        </p:nvSpPr>
        <p:spPr>
          <a:xfrm>
            <a:off x="457200" y="59055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 Coding and Design </a:t>
            </a:r>
            <a:endParaRPr/>
          </a:p>
        </p:txBody>
      </p:sp>
      <p:sp>
        <p:nvSpPr>
          <p:cNvPr id="186" name="Google Shape;186;g2dc0ad64b02_0_1"/>
          <p:cNvSpPr txBox="1"/>
          <p:nvPr>
            <p:ph idx="1" type="body"/>
          </p:nvPr>
        </p:nvSpPr>
        <p:spPr>
          <a:xfrm>
            <a:off x="377875" y="1410375"/>
            <a:ext cx="8229600" cy="285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MICROCONTROLLER: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State machine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Switches through the different modes: Free play, Tuner, Chords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Each mode has 3 states: New, Cont’d, exit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Different capabilities of the learning guitar system are brought together here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Bluetooth configuration data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Services - encompasses groups of data (organization)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Characteristics - </a:t>
            </a:r>
            <a:r>
              <a:rPr lang="en-US"/>
              <a:t>different</a:t>
            </a:r>
            <a:r>
              <a:rPr lang="en-US"/>
              <a:t> data sent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Bluetooth communications / advertising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2dc0ad64b02_0_1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dc0ad64b02_0_9"/>
          <p:cNvSpPr txBox="1"/>
          <p:nvPr>
            <p:ph type="title"/>
          </p:nvPr>
        </p:nvSpPr>
        <p:spPr>
          <a:xfrm>
            <a:off x="457200" y="47835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 Coding and Design</a:t>
            </a:r>
            <a:endParaRPr/>
          </a:p>
        </p:txBody>
      </p:sp>
      <p:sp>
        <p:nvSpPr>
          <p:cNvPr id="194" name="Google Shape;194;g2dc0ad64b02_0_9"/>
          <p:cNvSpPr txBox="1"/>
          <p:nvPr>
            <p:ph idx="1" type="body"/>
          </p:nvPr>
        </p:nvSpPr>
        <p:spPr>
          <a:xfrm>
            <a:off x="377875" y="1288800"/>
            <a:ext cx="8229600" cy="306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APP: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User Interface: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Chord selection Screen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Tuner Screen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Digital Effects Screen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Bluetooth Communication: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Send data to the controller to alter state and Receive data to display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Mode Control: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Change between the different guitar modes available on the controller by navigating between the different screens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2dc0ad64b02_0_9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db100f9d11_0_92"/>
          <p:cNvSpPr txBox="1"/>
          <p:nvPr>
            <p:ph type="title"/>
          </p:nvPr>
        </p:nvSpPr>
        <p:spPr>
          <a:xfrm>
            <a:off x="457200" y="59055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Circuit and Block Diagram</a:t>
            </a:r>
            <a:endParaRPr/>
          </a:p>
        </p:txBody>
      </p:sp>
      <p:sp>
        <p:nvSpPr>
          <p:cNvPr id="202" name="Google Shape;202;g2db100f9d11_0_92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3" name="Google Shape;203;g2db100f9d11_0_92"/>
          <p:cNvPicPr preferRelativeResize="0"/>
          <p:nvPr/>
        </p:nvPicPr>
        <p:blipFill rotWithShape="1">
          <a:blip r:embed="rId3">
            <a:alphaModFix/>
          </a:blip>
          <a:srcRect b="0" l="0" r="1176" t="0"/>
          <a:stretch/>
        </p:blipFill>
        <p:spPr>
          <a:xfrm>
            <a:off x="4514325" y="1733025"/>
            <a:ext cx="3501350" cy="27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2db100f9d11_0_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50" y="2227600"/>
            <a:ext cx="3953175" cy="17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2db100f9d11_0_92"/>
          <p:cNvSpPr txBox="1"/>
          <p:nvPr>
            <p:ph type="title"/>
          </p:nvPr>
        </p:nvSpPr>
        <p:spPr>
          <a:xfrm>
            <a:off x="1314188" y="1897900"/>
            <a:ext cx="2447100" cy="329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Audio Signal Circuit Diagram</a:t>
            </a:r>
            <a:endParaRPr sz="1400"/>
          </a:p>
        </p:txBody>
      </p:sp>
      <p:sp>
        <p:nvSpPr>
          <p:cNvPr id="206" name="Google Shape;206;g2db100f9d11_0_92"/>
          <p:cNvSpPr txBox="1"/>
          <p:nvPr>
            <p:ph type="title"/>
          </p:nvPr>
        </p:nvSpPr>
        <p:spPr>
          <a:xfrm>
            <a:off x="5041438" y="1333650"/>
            <a:ext cx="2447100" cy="329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System Block Diagram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db100f9d11_0_49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3" name="Google Shape;213;g2db100f9d11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275" y="260400"/>
            <a:ext cx="1894850" cy="4102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2db100f9d11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6750" y="260372"/>
            <a:ext cx="1894850" cy="410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2db100f9d11_0_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1225" y="260400"/>
            <a:ext cx="1894850" cy="410214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2db100f9d11_0_49"/>
          <p:cNvSpPr txBox="1"/>
          <p:nvPr>
            <p:ph type="title"/>
          </p:nvPr>
        </p:nvSpPr>
        <p:spPr>
          <a:xfrm>
            <a:off x="0" y="260400"/>
            <a:ext cx="34131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Demonstration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b100f9d11_0_55"/>
          <p:cNvSpPr txBox="1"/>
          <p:nvPr>
            <p:ph type="title"/>
          </p:nvPr>
        </p:nvSpPr>
        <p:spPr>
          <a:xfrm>
            <a:off x="457200" y="59055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Challenges</a:t>
            </a:r>
            <a:endParaRPr/>
          </a:p>
        </p:txBody>
      </p:sp>
      <p:sp>
        <p:nvSpPr>
          <p:cNvPr id="223" name="Google Shape;223;g2db100f9d11_0_55"/>
          <p:cNvSpPr txBox="1"/>
          <p:nvPr>
            <p:ph idx="1" type="body"/>
          </p:nvPr>
        </p:nvSpPr>
        <p:spPr>
          <a:xfrm>
            <a:off x="457200" y="1619250"/>
            <a:ext cx="8229600" cy="265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Physical Space to Implement Circuitry was Small; drove us to try wall power </a:t>
            </a:r>
            <a:r>
              <a:rPr lang="en-US"/>
              <a:t>instead</a:t>
            </a:r>
            <a:r>
              <a:rPr lang="en-US"/>
              <a:t> of Lipo battery; wall power generated too much noise over speaker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Weird ESP32 Errors (Exit status 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Hard to hide wires for LEDs without lowering </a:t>
            </a:r>
            <a:r>
              <a:rPr lang="en-US"/>
              <a:t>structural</a:t>
            </a:r>
            <a:r>
              <a:rPr lang="en-US"/>
              <a:t> </a:t>
            </a:r>
            <a:r>
              <a:rPr lang="en-US"/>
              <a:t>integrity</a:t>
            </a:r>
            <a:r>
              <a:rPr lang="en-US"/>
              <a:t> of the neck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Amplifier attached to guitar would create a feedback loop causing the sound to continuously ring and get louder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Clear 3D print for LEDs can blend the colors together to make it a little harder to see where or what finger needs to be placed on the light</a:t>
            </a:r>
            <a:endParaRPr/>
          </a:p>
        </p:txBody>
      </p:sp>
      <p:sp>
        <p:nvSpPr>
          <p:cNvPr id="224" name="Google Shape;224;g2db100f9d11_0_55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b100f9d11_0_62"/>
          <p:cNvSpPr txBox="1"/>
          <p:nvPr>
            <p:ph type="title"/>
          </p:nvPr>
        </p:nvSpPr>
        <p:spPr>
          <a:xfrm>
            <a:off x="457200" y="590550"/>
            <a:ext cx="8229600" cy="74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Desired Improvements</a:t>
            </a:r>
            <a:endParaRPr/>
          </a:p>
        </p:txBody>
      </p:sp>
      <p:sp>
        <p:nvSpPr>
          <p:cNvPr id="231" name="Google Shape;231;g2db100f9d11_0_62"/>
          <p:cNvSpPr txBox="1"/>
          <p:nvPr>
            <p:ph idx="1" type="body"/>
          </p:nvPr>
        </p:nvSpPr>
        <p:spPr>
          <a:xfrm>
            <a:off x="457200" y="1619250"/>
            <a:ext cx="4617600" cy="265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Low Pass filter on analog signals from ESP32 to Teensy to eliminate PWM noise and </a:t>
            </a:r>
            <a:r>
              <a:rPr lang="en-US"/>
              <a:t>control</a:t>
            </a:r>
            <a:r>
              <a:rPr lang="en-US"/>
              <a:t> all digital effect parameters from the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Improve tuner code to consistently show the correct frequency and note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Implement note and chord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Add a song library with chords and melodies</a:t>
            </a:r>
            <a:endParaRPr/>
          </a:p>
        </p:txBody>
      </p:sp>
      <p:sp>
        <p:nvSpPr>
          <p:cNvPr id="232" name="Google Shape;232;g2db100f9d11_0_62"/>
          <p:cNvSpPr txBox="1"/>
          <p:nvPr>
            <p:ph idx="12" type="sldNum"/>
          </p:nvPr>
        </p:nvSpPr>
        <p:spPr>
          <a:xfrm>
            <a:off x="3505200" y="4767263"/>
            <a:ext cx="2133600" cy="2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g2db100f9d11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800" y="1333650"/>
            <a:ext cx="3764400" cy="307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2db100f9d11_0_62"/>
          <p:cNvSpPr txBox="1"/>
          <p:nvPr/>
        </p:nvSpPr>
        <p:spPr>
          <a:xfrm>
            <a:off x="5308050" y="4229775"/>
            <a:ext cx="329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https://pages.cs.wisc.edu/~kma/downloads/chord-recognition.pdf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2014-12-16T17:00:44Z</dcterms:created>
  <dc:creator>Gail Armstrong</dc:creator>
</cp:coreProperties>
</file>